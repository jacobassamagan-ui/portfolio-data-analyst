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F5E5A"/>
                </a:solidFill>
                <a:latin typeface="Arial"/>
              </a:rPr>
              <a:t>Croissance cumulee (illustration a partir des rendements annualises)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Portefeuille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1.7</c:v>
                </c:pt>
                <c:pt idx="2">
                  <c:v>3.4</c:v>
                </c:pt>
                <c:pt idx="3">
                  <c:v>5.1</c:v>
                </c:pt>
                <c:pt idx="4">
                  <c:v>6.8</c:v>
                </c:pt>
                <c:pt idx="5">
                  <c:v>8.6</c:v>
                </c:pt>
                <c:pt idx="6">
                  <c:v>10.4</c:v>
                </c:pt>
                <c:pt idx="7">
                  <c:v>12.2</c:v>
                </c:pt>
                <c:pt idx="8">
                  <c:v>14.1</c:v>
                </c:pt>
                <c:pt idx="9">
                  <c:v>16</c:v>
                </c:pt>
                <c:pt idx="10">
                  <c:v>17.9</c:v>
                </c:pt>
                <c:pt idx="11">
                  <c:v>19.9</c:v>
                </c:pt>
                <c:pt idx="12">
                  <c:v>21.9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CAC 40</c:v>
                </c:pt>
              </c:strCache>
            </c:strRef>
          </c:tx>
          <c:spPr>
            <a:solidFill>
              <a:srgbClr val="9AA5B8"/>
            </a:solidFill>
            <a:ln w="31750" cap="flat">
              <a:solidFill>
                <a:srgbClr val="9AA5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5B8"/>
              </a:solidFill>
              <a:ln w="9525" cap="flat">
                <a:solidFill>
                  <a:srgbClr val="9AA5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0.9</c:v>
                </c:pt>
                <c:pt idx="6">
                  <c:v>1.1</c:v>
                </c:pt>
                <c:pt idx="7">
                  <c:v>1.3</c:v>
                </c:pt>
                <c:pt idx="8">
                  <c:v>1.5</c:v>
                </c:pt>
                <c:pt idx="9">
                  <c:v>1.7</c:v>
                </c:pt>
                <c:pt idx="10">
                  <c:v>1.9</c:v>
                </c:pt>
                <c:pt idx="11">
                  <c:v>2.1</c:v>
                </c:pt>
                <c:pt idx="12">
                  <c:v>2.3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Croissance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Rendement annualise (%)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AAPL</c:v>
                  </c:pt>
                  <c:pt idx="1">
                    <c:v>MSFT</c:v>
                  </c:pt>
                  <c:pt idx="2">
                    <c:v>TTE</c:v>
                  </c:pt>
                  <c:pt idx="3">
                    <c:v>XOM</c:v>
                  </c:pt>
                  <c:pt idx="4">
                    <c:v>SAN</c:v>
                  </c:pt>
                  <c:pt idx="5">
                    <c:v>JNJ</c:v>
                  </c:pt>
                  <c:pt idx="6">
                    <c:v>BNP</c:v>
                  </c:pt>
                  <c:pt idx="7">
                    <c:v>JPM</c:v>
                  </c:pt>
                  <c:pt idx="8">
                    <c:v>MC</c:v>
                  </c:pt>
                  <c:pt idx="9">
                    <c:v>KO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-44.5</c:v>
                </c:pt>
                <c:pt idx="1">
                  <c:v>55.9</c:v>
                </c:pt>
                <c:pt idx="2">
                  <c:v>56.2</c:v>
                </c:pt>
                <c:pt idx="3">
                  <c:v>-36.6</c:v>
                </c:pt>
                <c:pt idx="4">
                  <c:v>-39.7</c:v>
                </c:pt>
                <c:pt idx="5">
                  <c:v>34.6</c:v>
                </c:pt>
                <c:pt idx="6">
                  <c:v>42</c:v>
                </c:pt>
                <c:pt idx="7">
                  <c:v>60.2</c:v>
                </c:pt>
                <c:pt idx="8">
                  <c:v>56.2</c:v>
                </c:pt>
                <c:pt idx="9">
                  <c:v>30.8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Rendement annualise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AAPL</c:v>
                  </c:pt>
                  <c:pt idx="1">
                    <c:v>MSFT</c:v>
                  </c:pt>
                  <c:pt idx="2">
                    <c:v>TTE</c:v>
                  </c:pt>
                  <c:pt idx="3">
                    <c:v>XOM</c:v>
                  </c:pt>
                  <c:pt idx="4">
                    <c:v>SAN</c:v>
                  </c:pt>
                  <c:pt idx="5">
                    <c:v>JNJ</c:v>
                  </c:pt>
                  <c:pt idx="6">
                    <c:v>BNP</c:v>
                  </c:pt>
                  <c:pt idx="7">
                    <c:v>JPM</c:v>
                  </c:pt>
                  <c:pt idx="8">
                    <c:v>MC</c:v>
                  </c:pt>
                  <c:pt idx="9">
                    <c:v>KO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-1.77</c:v>
                </c:pt>
                <c:pt idx="1">
                  <c:v>1.93</c:v>
                </c:pt>
                <c:pt idx="2">
                  <c:v>1.66</c:v>
                </c:pt>
                <c:pt idx="3">
                  <c:v>-1.4</c:v>
                </c:pt>
                <c:pt idx="4">
                  <c:v>-2.37</c:v>
                </c:pt>
                <c:pt idx="5">
                  <c:v>1.95</c:v>
                </c:pt>
                <c:pt idx="6">
                  <c:v>1.66</c:v>
                </c:pt>
                <c:pt idx="7">
                  <c:v>2.43</c:v>
                </c:pt>
                <c:pt idx="8">
                  <c:v>2.07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A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Poids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D5AA3"/>
              </a:solidFill>
              <a:effectLst/>
            </c:spPr>
          </c:dPt>
          <c:dPt>
            <c:idx val="2"/>
            <c:bubble3D val="0"/>
            <c:spPr>
              <a:solidFill>
                <a:srgbClr val="7E93C9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bubble3D val="0"/>
            <c:spPr>
              <a:solidFill>
                <a:srgbClr val="9AA5B8"/>
              </a:solidFill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Technologie</c:v>
                </c:pt>
                <c:pt idx="1">
                  <c:v>Consommation</c:v>
                </c:pt>
                <c:pt idx="2">
                  <c:v>Energie</c:v>
                </c:pt>
                <c:pt idx="3">
                  <c:v>Sante</c:v>
                </c:pt>
                <c:pt idx="4">
                  <c:v>Finance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29.9</c:v>
                </c:pt>
                <c:pt idx="1">
                  <c:v>25.5</c:v>
                </c:pt>
                <c:pt idx="2">
                  <c:v>14.9</c:v>
                </c:pt>
                <c:pt idx="3">
                  <c:v>14.8</c:v>
                </c:pt>
                <c:pt idx="4">
                  <c:v>14.9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MarketPulse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portefeuille et recommandations d'allocation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— Finance, Business Intelligence et Aide a la decision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simulees a des fins de demonstration — juillet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executif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de 45 170 EUR reparti sur 10 positions. Analyse sur la periode observee, comparee a l'indice CAC 40.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+21.9%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annualise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+19.6 pts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CAC 40 (+2.3%)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Sharpe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sectorielle max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rapide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portefeuille surperforme largement l'indice de reference, mais avec une volatilite plus elevee (24.1% contre 16.0%).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tiers du portefeuille repose sur le secteur Technologie, ce qui concentre le risque en cas de correction sectorielle.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position (Sanofi) affiche un couple risque/rendement nettement defavorable et merite d'etre reevaluee.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MarketPulse — Analyse de portefeuille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du portefeuille vs indice de reference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vs CAC 40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40480" cy="1645920"/>
        </p:xfrm>
        <a:graphic>
          <a:graphicData uri="http://schemas.openxmlformats.org/drawingml/2006/table">
            <a:tbl>
              <a:tblPr/>
              <a:tblGrid>
                <a:gridCol w="1737360"/>
                <a:gridCol w="1051560"/>
                <a:gridCol w="1051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Portefeuille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Rendement annualise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Volatilite annualisee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de 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772400" y="32918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L'ecart de volatilite indique que la surperformance s'accompagne d'un risque plus eleve, a mettre en regard du profil de risque du client.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MarketPulse — Analyse de portefeuille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annualisee par position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MarketPulse — Analyse de portefeuille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par position et diversification sectorielle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Sharpe par position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1264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051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par secteur</a:t>
            </a:r>
            <a:endParaRPr lang="en-US" sz="13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949440" y="141732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949440" y="46634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secteur Technologie concentre pres d'un tiers de l'exposition totale, principalement via Apple et Microsoft.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MarketPulse — Analyse de portefeuille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Diversification effective entre positions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Au-dela des poids sectoriels, la correlation entre les rendements journaliers mesure si les positions bougent reellement ensemble.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315200" cy="237744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 de positions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/ Microsoft (meme secteur)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 independantes malgre le meme secteur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/ Exxon Mobil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redondance detectee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BNP Paribas / JPMorgan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Diversification effective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LVMH / Coca-Cola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Diversification effective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22402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correlations mesurees restent proches de zero : la concentration du portefeuille est sectorielle (poids), pas comportementale (les cours ne bougent pas ensemble).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MarketPulse — Analyse de portefeuille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Reduire la concentration sur la Technologie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29.9% du portefeuille sur un seul secteur. Envisager de redistribuer 8 a 10 points vers la Sante ou la Finance.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1143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Reevaluer la position Sanofi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16002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Sharpe de -2.37, le plus defavorable du portefeuille : le risque pris n'est pas remunere par le rendement obtenu.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la surperformance vs CAC 40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0690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+19.6 points de rendement, mais avec une volatilite superieure de 8 points : a presenter avec nuance, pas comme un gain sans contrepartie.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657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la diversification hors effet sectoriel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40690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correlations entre positions restent proches de zero : la structure actuelle diversifie correctement le risque idiosyncratique.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MarketPulse — Analyse de portefeuille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methodologie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basee sur des donnees historiques simulees a des fins de demonstration ; elle ne predit pas les performances futures.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volatilite du portefeuille est une approximation ponderee ; un calcul rigoureux integrerait la matrice de covariance complete.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document ne constitue pas un conseil en investissement reglemente.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recommandations sont des pistes de reflexion ; la decision finale appartient au client.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et echanges bienvenus.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2026-07-21T16:27:10Z</dcterms:created>
  <dcterms:modified xsi:type="dcterms:W3CDTF">2026-07-21T16:27:10Z</dcterms:modified>
</cp:coreProperties>
</file>